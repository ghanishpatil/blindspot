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6F2"/>
    <a:srgbClr val="F2F2F2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917" autoAdjust="0"/>
  </p:normalViewPr>
  <p:slideViewPr>
    <p:cSldViewPr snapToGrid="0" snapToObjects="1">
      <p:cViewPr>
        <p:scale>
          <a:sx n="78" d="100"/>
          <a:sy n="78" d="100"/>
        </p:scale>
        <p:origin x="192" y="3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html/2608.04857v1?hl=en-US" TargetMode="External"/><Relationship Id="rId3" Type="http://schemas.openxmlformats.org/officeDocument/2006/relationships/hyperlink" Target="https://csrc.nist.gov/pubs/fips/203/final" TargetMode="External"/><Relationship Id="rId7" Type="http://schemas.openxmlformats.org/officeDocument/2006/relationships/hyperlink" Target="https://docs.google.com/document/d/1kG2FP-WwYUFhnxrSE1AOAjxuoIcYW4o40v7XeEUv1Og/edit?usp=sharin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google.com/document/d/1LWQdOPm-QrkMEDLvYn0jdJmn5vnncAHIJqNTjcBCf0I/edit?usp=sharing" TargetMode="External"/><Relationship Id="rId11" Type="http://schemas.openxmlformats.org/officeDocument/2006/relationships/image" Target="../media/image3.png"/><Relationship Id="rId5" Type="http://schemas.openxmlformats.org/officeDocument/2006/relationships/hyperlink" Target="https://github.com/cbomkit/cbomkit" TargetMode="External"/><Relationship Id="rId10" Type="http://schemas.openxmlformats.org/officeDocument/2006/relationships/image" Target="../media/image2.png"/><Relationship Id="rId4" Type="http://schemas.openxmlformats.org/officeDocument/2006/relationships/hyperlink" Target="https://github.com/openssl/openssl" TargetMode="External"/><Relationship Id="rId9" Type="http://schemas.openxmlformats.org/officeDocument/2006/relationships/hyperlink" Target="https://www.mdpi.com/2079-9292/14/17/3338?hl=en-U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90106" y="1895354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9220" y="-431809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8532" y="1143831"/>
            <a:ext cx="6909507" cy="4559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 26164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 -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Cryptographic Discovery &amp; Analysis Tool (ECDAT)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-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&amp; Cybersecurity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 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 -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- Blindspot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" name="Freeform 14">
            <a:extLst>
              <a:ext uri="{FF2B5EF4-FFF2-40B4-BE49-F238E27FC236}">
                <a16:creationId xmlns:a16="http://schemas.microsoft.com/office/drawing/2014/main" id="{4C249F82-82AD-E10F-C96B-211A4F889B2B}"/>
              </a:ext>
            </a:extLst>
          </p:cNvPr>
          <p:cNvSpPr/>
          <p:nvPr/>
        </p:nvSpPr>
        <p:spPr>
          <a:xfrm>
            <a:off x="162064" y="75248"/>
            <a:ext cx="1048407" cy="1062337"/>
          </a:xfrm>
          <a:custGeom>
            <a:avLst/>
            <a:gdLst/>
            <a:ahLst/>
            <a:cxnLst/>
            <a:rect l="l" t="t" r="r" b="b"/>
            <a:pathLst>
              <a:path w="2100730" h="2100730">
                <a:moveTo>
                  <a:pt x="0" y="0"/>
                </a:moveTo>
                <a:lnTo>
                  <a:pt x="2100730" y="0"/>
                </a:lnTo>
                <a:lnTo>
                  <a:pt x="2100730" y="2100730"/>
                </a:lnTo>
                <a:lnTo>
                  <a:pt x="0" y="2100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Freeform 7">
            <a:extLst>
              <a:ext uri="{FF2B5EF4-FFF2-40B4-BE49-F238E27FC236}">
                <a16:creationId xmlns:a16="http://schemas.microsoft.com/office/drawing/2014/main" id="{C8D4D9F3-5C0D-B37A-8970-709DFFA03F96}"/>
              </a:ext>
            </a:extLst>
          </p:cNvPr>
          <p:cNvSpPr/>
          <p:nvPr/>
        </p:nvSpPr>
        <p:spPr>
          <a:xfrm>
            <a:off x="1" y="1199870"/>
            <a:ext cx="12191999" cy="5039309"/>
          </a:xfrm>
          <a:custGeom>
            <a:avLst/>
            <a:gdLst/>
            <a:ahLst/>
            <a:cxnLst/>
            <a:rect l="l" t="t" r="r" b="b"/>
            <a:pathLst>
              <a:path w="17763334" h="9437846">
                <a:moveTo>
                  <a:pt x="0" y="0"/>
                </a:moveTo>
                <a:lnTo>
                  <a:pt x="17763334" y="0"/>
                </a:lnTo>
                <a:lnTo>
                  <a:pt x="17763334" y="9437846"/>
                </a:lnTo>
                <a:lnTo>
                  <a:pt x="0" y="94378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7924"/>
            </a:stretch>
          </a:blipFill>
        </p:spPr>
        <p:txBody>
          <a:bodyPr/>
          <a:lstStyle/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3728D-4791-A489-071D-43EFF60EFE32}"/>
              </a:ext>
            </a:extLst>
          </p:cNvPr>
          <p:cNvSpPr txBox="1"/>
          <p:nvPr/>
        </p:nvSpPr>
        <p:spPr>
          <a:xfrm>
            <a:off x="140141" y="1397037"/>
            <a:ext cx="18653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Detailed Explanation of the Proposed Solution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16B34D-3312-6066-CA0D-3BA6864D58E4}"/>
              </a:ext>
            </a:extLst>
          </p:cNvPr>
          <p:cNvSpPr/>
          <p:nvPr/>
        </p:nvSpPr>
        <p:spPr>
          <a:xfrm>
            <a:off x="711642" y="2278049"/>
            <a:ext cx="87464" cy="108107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F7B37C-2BF0-A90A-6A87-A920FC7FB6FA}"/>
              </a:ext>
            </a:extLst>
          </p:cNvPr>
          <p:cNvSpPr/>
          <p:nvPr/>
        </p:nvSpPr>
        <p:spPr>
          <a:xfrm>
            <a:off x="715246" y="2961404"/>
            <a:ext cx="87464" cy="108107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64E091-085F-2836-3E24-BC17A7DB35FF}"/>
              </a:ext>
            </a:extLst>
          </p:cNvPr>
          <p:cNvSpPr/>
          <p:nvPr/>
        </p:nvSpPr>
        <p:spPr>
          <a:xfrm>
            <a:off x="711642" y="3374946"/>
            <a:ext cx="87464" cy="108107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492C9A-A0B1-BA34-0633-59CC587FC91C}"/>
              </a:ext>
            </a:extLst>
          </p:cNvPr>
          <p:cNvSpPr/>
          <p:nvPr/>
        </p:nvSpPr>
        <p:spPr>
          <a:xfrm>
            <a:off x="691578" y="4037563"/>
            <a:ext cx="87464" cy="108107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6165D3-545F-0CE1-BB4C-0218AEEE2570}"/>
              </a:ext>
            </a:extLst>
          </p:cNvPr>
          <p:cNvSpPr/>
          <p:nvPr/>
        </p:nvSpPr>
        <p:spPr>
          <a:xfrm>
            <a:off x="711642" y="4675298"/>
            <a:ext cx="87464" cy="108107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C200AC-411C-DCFA-217E-DC4446333FD5}"/>
              </a:ext>
            </a:extLst>
          </p:cNvPr>
          <p:cNvSpPr/>
          <p:nvPr/>
        </p:nvSpPr>
        <p:spPr>
          <a:xfrm>
            <a:off x="715246" y="5349131"/>
            <a:ext cx="87464" cy="108107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10E071-A06D-BD1C-1FC7-4FC4A16F2FA4}"/>
              </a:ext>
            </a:extLst>
          </p:cNvPr>
          <p:cNvSpPr/>
          <p:nvPr/>
        </p:nvSpPr>
        <p:spPr>
          <a:xfrm>
            <a:off x="4734967" y="2278049"/>
            <a:ext cx="87464" cy="108107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4B8D11-151A-B263-D1B3-F7A8E1CFD429}"/>
              </a:ext>
            </a:extLst>
          </p:cNvPr>
          <p:cNvSpPr/>
          <p:nvPr/>
        </p:nvSpPr>
        <p:spPr>
          <a:xfrm>
            <a:off x="4691235" y="2907350"/>
            <a:ext cx="87464" cy="108107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83B97E-C094-6DCF-B95D-1A44979BF304}"/>
              </a:ext>
            </a:extLst>
          </p:cNvPr>
          <p:cNvSpPr/>
          <p:nvPr/>
        </p:nvSpPr>
        <p:spPr>
          <a:xfrm>
            <a:off x="4685135" y="3791823"/>
            <a:ext cx="87464" cy="108107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019D130-F7BE-8BF7-B11B-916E2751EE0C}"/>
              </a:ext>
            </a:extLst>
          </p:cNvPr>
          <p:cNvSpPr/>
          <p:nvPr/>
        </p:nvSpPr>
        <p:spPr>
          <a:xfrm>
            <a:off x="4712635" y="4500809"/>
            <a:ext cx="87464" cy="108107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5B21797-F836-BC2B-EA4D-110254906274}"/>
              </a:ext>
            </a:extLst>
          </p:cNvPr>
          <p:cNvSpPr/>
          <p:nvPr/>
        </p:nvSpPr>
        <p:spPr>
          <a:xfrm>
            <a:off x="4691235" y="4945833"/>
            <a:ext cx="87464" cy="108107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39003D7-8D23-7AB5-64BC-CC1EEC7B4042}"/>
              </a:ext>
            </a:extLst>
          </p:cNvPr>
          <p:cNvSpPr/>
          <p:nvPr/>
        </p:nvSpPr>
        <p:spPr>
          <a:xfrm>
            <a:off x="4691235" y="5349131"/>
            <a:ext cx="87464" cy="108107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B6A11ED-0171-0690-843F-1403E227AB61}"/>
              </a:ext>
            </a:extLst>
          </p:cNvPr>
          <p:cNvSpPr/>
          <p:nvPr/>
        </p:nvSpPr>
        <p:spPr>
          <a:xfrm>
            <a:off x="8737600" y="4921786"/>
            <a:ext cx="87464" cy="108107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3545393-B95C-CB9B-1C4D-53BA6C7C57C8}"/>
              </a:ext>
            </a:extLst>
          </p:cNvPr>
          <p:cNvSpPr/>
          <p:nvPr/>
        </p:nvSpPr>
        <p:spPr>
          <a:xfrm>
            <a:off x="8742067" y="4288534"/>
            <a:ext cx="87464" cy="108107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25EF8CB-3E64-9C79-C8B8-75BA3D54CA45}"/>
              </a:ext>
            </a:extLst>
          </p:cNvPr>
          <p:cNvSpPr/>
          <p:nvPr/>
        </p:nvSpPr>
        <p:spPr>
          <a:xfrm>
            <a:off x="8737600" y="3604393"/>
            <a:ext cx="87464" cy="108107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C13CFCC-900C-B5BA-7A56-0EC0C683F5FD}"/>
              </a:ext>
            </a:extLst>
          </p:cNvPr>
          <p:cNvSpPr/>
          <p:nvPr/>
        </p:nvSpPr>
        <p:spPr>
          <a:xfrm>
            <a:off x="8747711" y="3133127"/>
            <a:ext cx="87464" cy="108107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098AA13-2CB3-9C8F-C734-7A9D4D2D7AEF}"/>
              </a:ext>
            </a:extLst>
          </p:cNvPr>
          <p:cNvSpPr/>
          <p:nvPr/>
        </p:nvSpPr>
        <p:spPr>
          <a:xfrm>
            <a:off x="8730778" y="2279831"/>
            <a:ext cx="87464" cy="108107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E0F9B3-96AD-DB7D-B161-4F70C2F6F135}"/>
              </a:ext>
            </a:extLst>
          </p:cNvPr>
          <p:cNvSpPr txBox="1"/>
          <p:nvPr/>
        </p:nvSpPr>
        <p:spPr>
          <a:xfrm>
            <a:off x="4100970" y="1387523"/>
            <a:ext cx="1865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addresses the problem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6303B3-5C05-D626-13EB-6E0AB3B9E2E9}"/>
              </a:ext>
            </a:extLst>
          </p:cNvPr>
          <p:cNvSpPr txBox="1"/>
          <p:nvPr/>
        </p:nvSpPr>
        <p:spPr>
          <a:xfrm>
            <a:off x="8146485" y="1359588"/>
            <a:ext cx="18653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uniqueness of the solution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14C2D04-B29E-B1EE-D4B4-ADCE5BE586B5}"/>
              </a:ext>
            </a:extLst>
          </p:cNvPr>
          <p:cNvSpPr txBox="1"/>
          <p:nvPr/>
        </p:nvSpPr>
        <p:spPr>
          <a:xfrm>
            <a:off x="466558" y="2192571"/>
            <a:ext cx="3546948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Multi-surface scanners: source code, dependencies, binaries, containers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Normalizes all findings into standard CycloneDX CBOM format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engine applies Mosca's inequality (X + Y &gt; Z)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Recommends Pure PQC / Hybrid / Monitor based on tier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GUI with drill-down and CBOM export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66ACE4-2E68-49A1-E4CD-03D54AD65E43}"/>
              </a:ext>
            </a:extLst>
          </p:cNvPr>
          <p:cNvSpPr txBox="1"/>
          <p:nvPr/>
        </p:nvSpPr>
        <p:spPr>
          <a:xfrm>
            <a:off x="4480062" y="2276178"/>
            <a:ext cx="3441791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Catalogues artefacts, internal and external facing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Covers algorithms, keys, certs, protocols, libraries, hardware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Flags harvest now decrypt later exposure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by type, lifetime, criticality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Mosca's algorithm directly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Recommends fixes by risk, latency, cost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F44AF6A-B8F6-809C-3D6B-07545BBE8243}"/>
              </a:ext>
            </a:extLst>
          </p:cNvPr>
          <p:cNvSpPr txBox="1"/>
          <p:nvPr/>
        </p:nvSpPr>
        <p:spPr>
          <a:xfrm>
            <a:off x="8556301" y="2334673"/>
            <a:ext cx="3441791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Splits risk logic: encryption vs signature exposure differs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 anchor escalation for root CA/code/firmware signing keys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Risk-tiered strategy: not one size fits all PQC or hybrid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Standards first CycloneDX output for real interoperability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traceability: GUI shows exactly why each tier was assigned</a:t>
            </a:r>
          </a:p>
        </p:txBody>
      </p:sp>
      <p:sp>
        <p:nvSpPr>
          <p:cNvPr id="59" name="Freeform 14">
            <a:extLst>
              <a:ext uri="{FF2B5EF4-FFF2-40B4-BE49-F238E27FC236}">
                <a16:creationId xmlns:a16="http://schemas.microsoft.com/office/drawing/2014/main" id="{E424544C-1036-24B5-FC28-DE3F2EE9F4E0}"/>
              </a:ext>
            </a:extLst>
          </p:cNvPr>
          <p:cNvSpPr/>
          <p:nvPr/>
        </p:nvSpPr>
        <p:spPr>
          <a:xfrm>
            <a:off x="162064" y="75248"/>
            <a:ext cx="1048407" cy="1062337"/>
          </a:xfrm>
          <a:custGeom>
            <a:avLst/>
            <a:gdLst/>
            <a:ahLst/>
            <a:cxnLst/>
            <a:rect l="l" t="t" r="r" b="b"/>
            <a:pathLst>
              <a:path w="2100730" h="2100730">
                <a:moveTo>
                  <a:pt x="0" y="0"/>
                </a:moveTo>
                <a:lnTo>
                  <a:pt x="2100730" y="0"/>
                </a:lnTo>
                <a:lnTo>
                  <a:pt x="2100730" y="2100730"/>
                </a:lnTo>
                <a:lnTo>
                  <a:pt x="0" y="2100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23368" y="-7916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3D91F2-535D-BD8D-1C20-E54FEFC33D1E}"/>
              </a:ext>
            </a:extLst>
          </p:cNvPr>
          <p:cNvSpPr/>
          <p:nvPr/>
        </p:nvSpPr>
        <p:spPr>
          <a:xfrm>
            <a:off x="6797746" y="1063837"/>
            <a:ext cx="5131019" cy="31826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56054B-1091-BBFD-C770-565F133BC008}"/>
              </a:ext>
            </a:extLst>
          </p:cNvPr>
          <p:cNvSpPr txBox="1"/>
          <p:nvPr/>
        </p:nvSpPr>
        <p:spPr>
          <a:xfrm>
            <a:off x="6851555" y="1100905"/>
            <a:ext cx="502340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Pipeline: scan → CBOM → classify → risk → recommend → GUI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scanners feed one CycloneDX CBOM store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engine uses Mosca's algorithm, split by type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Signatures escalate only if long-lived trust anchors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Recommends Pure PQC, Hybrid, or Monitor by tier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COMPONENTS: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 Orchestrator: dispatches source, dependency, binary scans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CBOM Store: standardized crypto artefact inventory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Engine: tags type, lifetime, criticality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Assessment Engine: scores via Mosca's algorithm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Engine: suggests fixes by cost and risk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Dashboard: visualizes results, exports CycloneDX report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9B467F6D-4B47-DFD3-8471-075C93618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1871" y="4458277"/>
            <a:ext cx="4476715" cy="178788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18884F1-C886-FBEF-D1D6-956562EE4F4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711" t="5678" r="18219" b="50676"/>
          <a:stretch>
            <a:fillRect/>
          </a:stretch>
        </p:blipFill>
        <p:spPr>
          <a:xfrm>
            <a:off x="162064" y="993383"/>
            <a:ext cx="6170620" cy="530708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FF00777-718E-D92D-520B-F20BDF39AC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1433" y="4831924"/>
            <a:ext cx="1563972" cy="919983"/>
          </a:xfrm>
          <a:prstGeom prst="rect">
            <a:avLst/>
          </a:prstGeom>
        </p:spPr>
      </p:pic>
      <p:sp>
        <p:nvSpPr>
          <p:cNvPr id="25" name="Freeform 14">
            <a:extLst>
              <a:ext uri="{FF2B5EF4-FFF2-40B4-BE49-F238E27FC236}">
                <a16:creationId xmlns:a16="http://schemas.microsoft.com/office/drawing/2014/main" id="{3094A527-BA3A-22AA-0493-2C44A24D6252}"/>
              </a:ext>
            </a:extLst>
          </p:cNvPr>
          <p:cNvSpPr/>
          <p:nvPr/>
        </p:nvSpPr>
        <p:spPr>
          <a:xfrm>
            <a:off x="85396" y="0"/>
            <a:ext cx="1048407" cy="1062337"/>
          </a:xfrm>
          <a:custGeom>
            <a:avLst/>
            <a:gdLst/>
            <a:ahLst/>
            <a:cxnLst/>
            <a:rect l="l" t="t" r="r" b="b"/>
            <a:pathLst>
              <a:path w="2100730" h="2100730">
                <a:moveTo>
                  <a:pt x="0" y="0"/>
                </a:moveTo>
                <a:lnTo>
                  <a:pt x="2100730" y="0"/>
                </a:lnTo>
                <a:lnTo>
                  <a:pt x="2100730" y="2100730"/>
                </a:lnTo>
                <a:lnTo>
                  <a:pt x="0" y="21007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1DBA70-0A24-AE87-22B5-A1B2A154BC68}"/>
              </a:ext>
            </a:extLst>
          </p:cNvPr>
          <p:cNvSpPr/>
          <p:nvPr/>
        </p:nvSpPr>
        <p:spPr>
          <a:xfrm>
            <a:off x="1543507" y="2440838"/>
            <a:ext cx="421843" cy="1267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17820E-37C0-99A4-A033-DF3F72AC861E}"/>
              </a:ext>
            </a:extLst>
          </p:cNvPr>
          <p:cNvSpPr txBox="1"/>
          <p:nvPr/>
        </p:nvSpPr>
        <p:spPr>
          <a:xfrm>
            <a:off x="1486804" y="2404208"/>
            <a:ext cx="4892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X + Y &gt; Z</a:t>
            </a:r>
            <a:endParaRPr lang="en-IN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9956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Freeform 14">
            <a:extLst>
              <a:ext uri="{FF2B5EF4-FFF2-40B4-BE49-F238E27FC236}">
                <a16:creationId xmlns:a16="http://schemas.microsoft.com/office/drawing/2014/main" id="{969023E3-ACCC-611D-D949-1AA80DE24E8D}"/>
              </a:ext>
            </a:extLst>
          </p:cNvPr>
          <p:cNvSpPr/>
          <p:nvPr/>
        </p:nvSpPr>
        <p:spPr>
          <a:xfrm>
            <a:off x="162064" y="75248"/>
            <a:ext cx="1048407" cy="1062337"/>
          </a:xfrm>
          <a:custGeom>
            <a:avLst/>
            <a:gdLst/>
            <a:ahLst/>
            <a:cxnLst/>
            <a:rect l="l" t="t" r="r" b="b"/>
            <a:pathLst>
              <a:path w="2100730" h="2100730">
                <a:moveTo>
                  <a:pt x="0" y="0"/>
                </a:moveTo>
                <a:lnTo>
                  <a:pt x="2100730" y="0"/>
                </a:lnTo>
                <a:lnTo>
                  <a:pt x="2100730" y="2100730"/>
                </a:lnTo>
                <a:lnTo>
                  <a:pt x="0" y="2100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04B723-9C9B-2EA5-FD2F-983CBED5E7B5}"/>
              </a:ext>
            </a:extLst>
          </p:cNvPr>
          <p:cNvSpPr/>
          <p:nvPr/>
        </p:nvSpPr>
        <p:spPr>
          <a:xfrm>
            <a:off x="609599" y="1347536"/>
            <a:ext cx="11037455" cy="187190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CE6F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F5FFA5-95AD-204D-CB37-2A77717608E0}"/>
              </a:ext>
            </a:extLst>
          </p:cNvPr>
          <p:cNvSpPr txBox="1"/>
          <p:nvPr/>
        </p:nvSpPr>
        <p:spPr>
          <a:xfrm>
            <a:off x="731472" y="1810605"/>
            <a:ext cx="110374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working demo (source-code scanner + Mosca risk engine + basic GUI) is buildable in the given time using existing open-source tools and libraries.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coverage of binaries and live infra scanning is harder, but can be shown as a later phase without weakening the core demo.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idea builds on real, published standards (CycloneDX, NIST PQC algorithms), so the approach isn't speculative - it's implementable.</a:t>
            </a:r>
          </a:p>
          <a:p>
            <a:pPr marL="342900" marR="0" lvl="0" indent="-342900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5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76B133-6D1F-031B-9D84-63B1FDDA2F30}"/>
              </a:ext>
            </a:extLst>
          </p:cNvPr>
          <p:cNvSpPr txBox="1"/>
          <p:nvPr/>
        </p:nvSpPr>
        <p:spPr>
          <a:xfrm>
            <a:off x="3352800" y="14594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of the feasibility of the idea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846E97F-F11F-D73D-9B49-DB688578ACB8}"/>
              </a:ext>
            </a:extLst>
          </p:cNvPr>
          <p:cNvSpPr/>
          <p:nvPr/>
        </p:nvSpPr>
        <p:spPr>
          <a:xfrm>
            <a:off x="577271" y="3293190"/>
            <a:ext cx="11037455" cy="134071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CE6F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F8F1C7-572F-716F-7A8F-4285458B7EC9}"/>
              </a:ext>
            </a:extLst>
          </p:cNvPr>
          <p:cNvSpPr txBox="1"/>
          <p:nvPr/>
        </p:nvSpPr>
        <p:spPr>
          <a:xfrm>
            <a:off x="3080326" y="33568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Challenges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2988FE-C154-1401-41B7-068ECD1EC47F}"/>
              </a:ext>
            </a:extLst>
          </p:cNvPr>
          <p:cNvSpPr txBox="1"/>
          <p:nvPr/>
        </p:nvSpPr>
        <p:spPr>
          <a:xfrm>
            <a:off x="757084" y="3725757"/>
            <a:ext cx="1103745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Scanners may miss crypto usage that's hidden, obfuscated, or loaded only at runtime.</a:t>
            </a:r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Estimating migration time (Y) and quantum-arrival time (Z) for Mosca's formula is uncertain and hard to justify precisely.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teams may not trust an automated risk score unless they can see exactly why an artefact was flagged.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19E9668-563D-24A7-8ECE-36E5BF2CABF0}"/>
              </a:ext>
            </a:extLst>
          </p:cNvPr>
          <p:cNvSpPr/>
          <p:nvPr/>
        </p:nvSpPr>
        <p:spPr>
          <a:xfrm>
            <a:off x="609599" y="4737676"/>
            <a:ext cx="11037455" cy="14805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CE6F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713B93-E851-89BA-A6F9-02A6FDFFD113}"/>
              </a:ext>
            </a:extLst>
          </p:cNvPr>
          <p:cNvSpPr txBox="1"/>
          <p:nvPr/>
        </p:nvSpPr>
        <p:spPr>
          <a:xfrm>
            <a:off x="3227811" y="47993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Strategies to overcome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D5D07F-6D36-CA9B-FCA5-8EEFFCDDE566}"/>
              </a:ext>
            </a:extLst>
          </p:cNvPr>
          <p:cNvSpPr txBox="1"/>
          <p:nvPr/>
        </p:nvSpPr>
        <p:spPr>
          <a:xfrm>
            <a:off x="757084" y="5168650"/>
            <a:ext cx="11037455" cy="1089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with a few well-tested languages/libraries and clearly label detection limits instead of overpromising coverage.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published estimates (NIST, Global Risk Institute) for Y and Z, and let users override defaults for their own context.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every risk score explainable in the GUI by showing the underlying values (X, Y, Z or trust-anchor flag) behind each decision.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Freeform 14">
            <a:extLst>
              <a:ext uri="{FF2B5EF4-FFF2-40B4-BE49-F238E27FC236}">
                <a16:creationId xmlns:a16="http://schemas.microsoft.com/office/drawing/2014/main" id="{510D4D22-66C1-1A11-1D6D-68C12C2A3BD2}"/>
              </a:ext>
            </a:extLst>
          </p:cNvPr>
          <p:cNvSpPr/>
          <p:nvPr/>
        </p:nvSpPr>
        <p:spPr>
          <a:xfrm>
            <a:off x="162064" y="75248"/>
            <a:ext cx="1048407" cy="1062337"/>
          </a:xfrm>
          <a:custGeom>
            <a:avLst/>
            <a:gdLst/>
            <a:ahLst/>
            <a:cxnLst/>
            <a:rect l="l" t="t" r="r" b="b"/>
            <a:pathLst>
              <a:path w="2100730" h="2100730">
                <a:moveTo>
                  <a:pt x="0" y="0"/>
                </a:moveTo>
                <a:lnTo>
                  <a:pt x="2100730" y="0"/>
                </a:lnTo>
                <a:lnTo>
                  <a:pt x="2100730" y="2100730"/>
                </a:lnTo>
                <a:lnTo>
                  <a:pt x="0" y="2100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EAED19-A53F-6A2C-A41C-BC8455FA0A81}"/>
              </a:ext>
            </a:extLst>
          </p:cNvPr>
          <p:cNvSpPr txBox="1"/>
          <p:nvPr/>
        </p:nvSpPr>
        <p:spPr>
          <a:xfrm>
            <a:off x="686267" y="2072825"/>
            <a:ext cx="486915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Compliance Risk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Faster, Focused Migration Planning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Exposure to Data Breaches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05E3DE-4F41-74AF-8F4A-4F006E5471CE}"/>
              </a:ext>
            </a:extLst>
          </p:cNvPr>
          <p:cNvSpPr txBox="1"/>
          <p:nvPr/>
        </p:nvSpPr>
        <p:spPr>
          <a:xfrm>
            <a:off x="996696" y="1333065"/>
            <a:ext cx="2082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Impacts:-</a:t>
            </a:r>
            <a:endParaRPr lang="en-IN" sz="3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8F8302-6863-B40A-6CB7-2C643E44E27A}"/>
              </a:ext>
            </a:extLst>
          </p:cNvPr>
          <p:cNvSpPr txBox="1"/>
          <p:nvPr/>
        </p:nvSpPr>
        <p:spPr>
          <a:xfrm>
            <a:off x="940406" y="3423008"/>
            <a:ext cx="20781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Benefits:-</a:t>
            </a:r>
            <a:endParaRPr lang="en-IN" sz="3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D5C9AF-5D03-B5F7-46E3-3F12447AAA05}"/>
              </a:ext>
            </a:extLst>
          </p:cNvPr>
          <p:cNvSpPr txBox="1"/>
          <p:nvPr/>
        </p:nvSpPr>
        <p:spPr>
          <a:xfrm>
            <a:off x="609600" y="4207838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Crypto Visibility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Smarter Resource Allocation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Audit-Ready Documentation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Quantum-Safe Readiness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74DF78-7A48-0D48-ABD5-C676B7CC5AD4}"/>
              </a:ext>
            </a:extLst>
          </p:cNvPr>
          <p:cNvCxnSpPr>
            <a:stCxn id="17409" idx="2"/>
          </p:cNvCxnSpPr>
          <p:nvPr/>
        </p:nvCxnSpPr>
        <p:spPr>
          <a:xfrm flipH="1">
            <a:off x="6095999" y="1095375"/>
            <a:ext cx="1" cy="514997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6267AB7-76BC-7434-8546-1BC8B7B32869}"/>
              </a:ext>
            </a:extLst>
          </p:cNvPr>
          <p:cNvSpPr txBox="1"/>
          <p:nvPr/>
        </p:nvSpPr>
        <p:spPr>
          <a:xfrm>
            <a:off x="6096000" y="1137585"/>
            <a:ext cx="6096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INSTANCE: USER STORY</a:t>
            </a:r>
            <a:endParaRPr lang="en-IN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0">
              <a:buFont typeface="Wingdings" panose="05000000000000000000" pitchFamily="2" charset="2"/>
              <a:buChar char="q"/>
            </a:pPr>
            <a:r>
              <a:rPr lang="en-IN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Scenario</a:t>
            </a:r>
            <a:endParaRPr lang="en-IN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bank's security team, facing an upcoming regulatory deadline for quantum safe migration, uses ECDAT to scan its transaction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processing systems and third-party libraries.</a:t>
            </a:r>
          </a:p>
          <a:p>
            <a:pPr marL="285750" indent="-285750" rtl="0">
              <a:buFont typeface="Wingdings" panose="05000000000000000000" pitchFamily="2" charset="2"/>
              <a:buChar char="q"/>
            </a:pPr>
            <a:r>
              <a:rPr lang="en-IN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endParaRPr lang="en-IN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Compliance Risk:</a:t>
            </a: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ECDAT flags RSA-2048 encryption protecting 15-year transaction records as Critical using Mosca's algorithm, catching "harvest-now-decrypt-later" exposure before an audit does.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Migration Planning:</a:t>
            </a: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Instead of manually reviewing every system, the team gets a prioritized, risk-tiered list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cutting planning time significantly.</a:t>
            </a:r>
          </a:p>
          <a:p>
            <a:pPr marL="285750" indent="-285750" rtl="0">
              <a:buFont typeface="Wingdings" panose="05000000000000000000" pitchFamily="2" charset="2"/>
              <a:buChar char="q"/>
            </a:pPr>
            <a:r>
              <a:rPr lang="en-IN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endParaRPr lang="en-IN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Smarter Resource Allocation:</a:t>
            </a: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Risk-tiered recommendations mean budget goes to Pure PQC for critical systems, Hybrid for activel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ones, and low-risk items are deferred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wasted migration effort.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Audit-Ready Documentation:</a:t>
            </a: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exported CycloneDX CBOM report gives compliance teams ready evidence for regulators, cutting manual reporting work.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04117" y="5254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04116" y="1332064"/>
            <a:ext cx="11610899" cy="480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PQC Reference Values (FIPS 203  ML-KEM) : 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NIST's finalized post-quantum key-exchange sizes.</a:t>
            </a:r>
          </a:p>
          <a:p>
            <a:pPr lvl="0" algn="just"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https://csrc.nist.gov/pubs/fips/203/final</a:t>
            </a: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OpenSSL : Real-world target repo to scan; crypto-dense source proves your tool works beyond synthetic code.</a:t>
            </a:r>
          </a:p>
          <a:p>
            <a:pPr lvl="0" algn="just"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GitHub: 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https://github.com/openssl/openssl</a:t>
            </a: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CBOMkit : IBM's reference CBOM generator; scans a repo and produces a structured cryptographic inventory.</a:t>
            </a:r>
          </a:p>
          <a:p>
            <a:pPr lvl="0" algn="just"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GitHub: 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https://github.com/cbomkit/cbomkit</a:t>
            </a: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Datasets:</a:t>
            </a:r>
          </a:p>
          <a:p>
            <a:r>
              <a:rPr lang="en-IN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https://docs.google.com/document/d/1LWQdOPm-QrkMEDLvYn0jdJmn5vnncAHIJqNTjcBCf0I/edit?usp=sharing</a:t>
            </a:r>
            <a:endParaRPr lang="en-IN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Papers:</a:t>
            </a:r>
          </a:p>
          <a:p>
            <a:pPr lvl="0" algn="just"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https://docs.google.com/document/d/1kG2FP-WwYUFhnxrSE1AOAjxuoIcYW4o40v7XeEUv1Og/edit?usp=sharing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Discovery &amp; CBOM Foundation:</a:t>
            </a:r>
          </a:p>
          <a:p>
            <a:pPr lvl="0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Name: Hidden Ciphers and Where to Find Them: </a:t>
            </a:r>
          </a:p>
          <a:p>
            <a:pPr lvl="0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Discovery and Assessment of Cryptographic Assets in Software (arXiv, 2026)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https://arxiv.org/html/2608.04857v1?hl=en-US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Risk Assessment Engine:</a:t>
            </a:r>
          </a:p>
          <a:p>
            <a:pPr lvl="0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Name: Towards a Unified Quantum Risk Assessment (QARS) (MDPI Electronics, 2025)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https://www.mdpi.com/2079-9292/14/17/3338?hl=en-US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Freeform 14">
            <a:extLst>
              <a:ext uri="{FF2B5EF4-FFF2-40B4-BE49-F238E27FC236}">
                <a16:creationId xmlns:a16="http://schemas.microsoft.com/office/drawing/2014/main" id="{D0602910-F1D2-C20E-614D-61B1290762D2}"/>
              </a:ext>
            </a:extLst>
          </p:cNvPr>
          <p:cNvSpPr/>
          <p:nvPr/>
        </p:nvSpPr>
        <p:spPr>
          <a:xfrm>
            <a:off x="162064" y="75248"/>
            <a:ext cx="1048407" cy="1062337"/>
          </a:xfrm>
          <a:custGeom>
            <a:avLst/>
            <a:gdLst/>
            <a:ahLst/>
            <a:cxnLst/>
            <a:rect l="l" t="t" r="r" b="b"/>
            <a:pathLst>
              <a:path w="2100730" h="2100730">
                <a:moveTo>
                  <a:pt x="0" y="0"/>
                </a:moveTo>
                <a:lnTo>
                  <a:pt x="2100730" y="0"/>
                </a:lnTo>
                <a:lnTo>
                  <a:pt x="2100730" y="2100730"/>
                </a:lnTo>
                <a:lnTo>
                  <a:pt x="0" y="21007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8361</TotalTime>
  <Words>929</Words>
  <Application>Microsoft Office PowerPoint</Application>
  <PresentationFormat>Widescreen</PresentationFormat>
  <Paragraphs>101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Wingdings</vt:lpstr>
      <vt:lpstr>Office Theme</vt:lpstr>
      <vt:lpstr>SMART INDIA HACKATHON 2026</vt:lpstr>
      <vt:lpstr>Proposed Solution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Ishita Wavdhane</cp:lastModifiedBy>
  <cp:revision>162</cp:revision>
  <dcterms:created xsi:type="dcterms:W3CDTF">2013-12-12T18:46:50Z</dcterms:created>
  <dcterms:modified xsi:type="dcterms:W3CDTF">2026-09-08T07:40:14Z</dcterms:modified>
  <cp:category/>
</cp:coreProperties>
</file>